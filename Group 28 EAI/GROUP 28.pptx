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8"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914400" y="2011680"/>
            <a:ext cx="10362895" cy="2926080"/>
          </a:xfrm>
          <a:prstGeom prst="rect">
            <a:avLst/>
          </a:prstGeom>
          <a:noFill/>
        </p:spPr>
        <p:txBody>
          <a:bodyPr wrap="square">
            <a:spAutoFit/>
          </a:bodyPr>
          <a:lstStyle/>
          <a:p>
            <a:pPr>
              <a:defRPr sz="3600" b="1">
                <a:solidFill>
                  <a:srgbClr val="38BDF8"/>
                </a:solidFill>
                <a:latin typeface="Georgia"/>
              </a:defRPr>
            </a:pPr>
            <a:r>
              <a:rPr dirty="0"/>
              <a:t>Serendib Go: AI-Powered Smart Bus Seat Optimizer</a:t>
            </a:r>
          </a:p>
          <a:p>
            <a:pPr>
              <a:spcBef>
                <a:spcPts val="1400"/>
              </a:spcBef>
              <a:defRPr sz="2000">
                <a:solidFill>
                  <a:srgbClr val="F8FAFC"/>
                </a:solidFill>
                <a:latin typeface="Calibri"/>
              </a:defRPr>
            </a:pPr>
            <a:r>
              <a:rPr dirty="0"/>
              <a:t>Dynamic Sectional Inventory &amp; AI Demand Management for Sri Lankan Inter-Provincial Transit</a:t>
            </a:r>
          </a:p>
          <a:p>
            <a:pPr>
              <a:spcBef>
                <a:spcPts val="2800"/>
              </a:spcBef>
              <a:defRPr sz="1500">
                <a:solidFill>
                  <a:srgbClr val="94A3B8"/>
                </a:solidFill>
                <a:latin typeface="Calibri"/>
              </a:defRPr>
            </a:pPr>
            <a:r>
              <a:rPr dirty="0"/>
              <a:t>Group 28 | Faculty of Computing | General Sir John Kotelawala </a:t>
            </a:r>
            <a:r>
              <a:rPr dirty="0" err="1"/>
              <a:t>Defence</a:t>
            </a:r>
            <a:r>
              <a:rPr dirty="0"/>
              <a:t>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38BDF8"/>
                </a:solidFill>
                <a:latin typeface="Calibri"/>
              </a:defRPr>
            </a:pPr>
            <a:r>
              <a:t>SERENDIB GO</a:t>
            </a:r>
          </a:p>
          <a:p>
            <a:pPr>
              <a:spcBef>
                <a:spcPts val="400"/>
              </a:spcBef>
              <a:defRPr sz="2600" b="1">
                <a:solidFill>
                  <a:srgbClr val="F8FAFC"/>
                </a:solidFill>
                <a:latin typeface="Georgia"/>
              </a:defRPr>
            </a:pPr>
            <a:r>
              <a:t>Contents</a:t>
            </a:r>
          </a:p>
        </p:txBody>
      </p:sp>
      <p:sp>
        <p:nvSpPr>
          <p:cNvPr id="3" name="Rounded Rectangle 2"/>
          <p:cNvSpPr/>
          <p:nvPr/>
        </p:nvSpPr>
        <p:spPr>
          <a:xfrm>
            <a:off x="731520" y="1645920"/>
            <a:ext cx="10728655" cy="7772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74320" rtlCol="0" anchor="ctr"/>
          <a:lstStyle/>
          <a:p>
            <a:pPr algn="ctr"/>
            <a:r>
              <a:rPr sz="1800" b="1" dirty="0">
                <a:solidFill>
                  <a:srgbClr val="38BDF8"/>
                </a:solidFill>
                <a:latin typeface="Georgia"/>
              </a:rPr>
              <a:t>01.  Introduction</a:t>
            </a:r>
            <a:r>
              <a:rPr sz="1500" dirty="0">
                <a:solidFill>
                  <a:srgbClr val="F8FAFC"/>
                </a:solidFill>
                <a:latin typeface="Calibri"/>
              </a:rPr>
              <a:t>  </a:t>
            </a:r>
          </a:p>
        </p:txBody>
      </p:sp>
      <p:sp>
        <p:nvSpPr>
          <p:cNvPr id="4" name="Rounded Rectangle 3"/>
          <p:cNvSpPr/>
          <p:nvPr/>
        </p:nvSpPr>
        <p:spPr>
          <a:xfrm>
            <a:off x="731520" y="2560320"/>
            <a:ext cx="10728655" cy="7772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74320" rtlCol="0" anchor="ctr"/>
          <a:lstStyle/>
          <a:p>
            <a:pPr algn="ctr"/>
            <a:r>
              <a:rPr sz="1800" b="1" dirty="0">
                <a:solidFill>
                  <a:srgbClr val="38BDF8"/>
                </a:solidFill>
                <a:latin typeface="Georgia"/>
              </a:rPr>
              <a:t>02.  Problem Statement</a:t>
            </a:r>
            <a:r>
              <a:rPr sz="1500" dirty="0">
                <a:solidFill>
                  <a:srgbClr val="F8FAFC"/>
                </a:solidFill>
                <a:latin typeface="Calibri"/>
              </a:rPr>
              <a:t>  </a:t>
            </a:r>
          </a:p>
        </p:txBody>
      </p:sp>
      <p:sp>
        <p:nvSpPr>
          <p:cNvPr id="5" name="Rounded Rectangle 4"/>
          <p:cNvSpPr/>
          <p:nvPr/>
        </p:nvSpPr>
        <p:spPr>
          <a:xfrm>
            <a:off x="731520" y="3474720"/>
            <a:ext cx="10728655" cy="7772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74320" rtlCol="0" anchor="ctr"/>
          <a:lstStyle/>
          <a:p>
            <a:pPr algn="ctr"/>
            <a:r>
              <a:rPr sz="1800" b="1" dirty="0">
                <a:solidFill>
                  <a:srgbClr val="38BDF8"/>
                </a:solidFill>
                <a:latin typeface="Georgia"/>
              </a:rPr>
              <a:t>03.  Technologies</a:t>
            </a:r>
            <a:r>
              <a:rPr sz="1500" dirty="0">
                <a:solidFill>
                  <a:srgbClr val="F8FAFC"/>
                </a:solidFill>
                <a:latin typeface="Calibri"/>
              </a:rPr>
              <a:t>  </a:t>
            </a:r>
          </a:p>
        </p:txBody>
      </p:sp>
      <p:sp>
        <p:nvSpPr>
          <p:cNvPr id="6" name="Rounded Rectangle 5"/>
          <p:cNvSpPr/>
          <p:nvPr/>
        </p:nvSpPr>
        <p:spPr>
          <a:xfrm>
            <a:off x="731520" y="4389120"/>
            <a:ext cx="10728655" cy="7772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74320" rtlCol="0" anchor="ctr"/>
          <a:lstStyle/>
          <a:p>
            <a:pPr algn="ctr"/>
            <a:r>
              <a:rPr sz="1800" b="1" dirty="0">
                <a:solidFill>
                  <a:srgbClr val="38BDF8"/>
                </a:solidFill>
                <a:latin typeface="Georgia"/>
              </a:rPr>
              <a:t>04.  AI Techniques</a:t>
            </a:r>
            <a:r>
              <a:rPr sz="1500" dirty="0">
                <a:solidFill>
                  <a:srgbClr val="F8FAFC"/>
                </a:solidFill>
                <a:latin typeface="Calibri"/>
              </a:rPr>
              <a:t>  </a:t>
            </a:r>
          </a:p>
        </p:txBody>
      </p:sp>
      <p:sp>
        <p:nvSpPr>
          <p:cNvPr id="7" name="Rounded Rectangle 6"/>
          <p:cNvSpPr/>
          <p:nvPr/>
        </p:nvSpPr>
        <p:spPr>
          <a:xfrm>
            <a:off x="731520" y="5303520"/>
            <a:ext cx="10728655" cy="7772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74320" rtlCol="0" anchor="ctr"/>
          <a:lstStyle/>
          <a:p>
            <a:pPr algn="ctr"/>
            <a:r>
              <a:rPr sz="1800" b="1" dirty="0">
                <a:solidFill>
                  <a:srgbClr val="38BDF8"/>
                </a:solidFill>
                <a:latin typeface="Georgia"/>
              </a:rPr>
              <a:t>05.  Core Tasks Completed</a:t>
            </a:r>
            <a:r>
              <a:rPr sz="1500" dirty="0">
                <a:solidFill>
                  <a:srgbClr val="F8FAFC"/>
                </a:solidFill>
                <a:latin typeface="Calibri"/>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38BDF8"/>
                </a:solidFill>
                <a:latin typeface="Calibri"/>
              </a:defRPr>
            </a:pPr>
            <a:r>
              <a:t>SERENDIB GO</a:t>
            </a:r>
          </a:p>
          <a:p>
            <a:pPr>
              <a:spcBef>
                <a:spcPts val="400"/>
              </a:spcBef>
              <a:defRPr sz="2600" b="1">
                <a:solidFill>
                  <a:srgbClr val="F8FAFC"/>
                </a:solidFill>
                <a:latin typeface="Georgia"/>
              </a:defRPr>
            </a:pPr>
            <a:r>
              <a:t>Introduction</a:t>
            </a:r>
          </a:p>
        </p:txBody>
      </p:sp>
      <p:sp>
        <p:nvSpPr>
          <p:cNvPr id="3" name="Rounded Rectangle 2"/>
          <p:cNvSpPr/>
          <p:nvPr/>
        </p:nvSpPr>
        <p:spPr>
          <a:xfrm>
            <a:off x="731520" y="1645920"/>
            <a:ext cx="10728655" cy="13716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800" b="1">
                <a:solidFill>
                  <a:srgbClr val="38BDF8"/>
                </a:solidFill>
                <a:latin typeface="Georgia"/>
              </a:defRPr>
            </a:pPr>
            <a:r>
              <a:t>Locally Hosted Smart Seat Optimizer</a:t>
            </a:r>
          </a:p>
          <a:p>
            <a:pPr>
              <a:spcBef>
                <a:spcPts val="600"/>
              </a:spcBef>
              <a:defRPr sz="1500">
                <a:solidFill>
                  <a:srgbClr val="F8FAFC"/>
                </a:solidFill>
                <a:latin typeface="Calibri"/>
              </a:defRPr>
            </a:pPr>
            <a:r>
              <a:t>Serendib Go is a privacy-preserving, AI-powered bus seat optimization platform designed for Sri Lanka's inter-provincial long-distance transport network.</a:t>
            </a:r>
          </a:p>
        </p:txBody>
      </p:sp>
      <p:sp>
        <p:nvSpPr>
          <p:cNvPr id="4" name="Rounded Rectangle 3"/>
          <p:cNvSpPr/>
          <p:nvPr/>
        </p:nvSpPr>
        <p:spPr>
          <a:xfrm>
            <a:off x="731520" y="3200400"/>
            <a:ext cx="10728655" cy="13716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800" b="1">
                <a:solidFill>
                  <a:srgbClr val="38BDF8"/>
                </a:solidFill>
                <a:latin typeface="Georgia"/>
              </a:defRPr>
            </a:pPr>
            <a:r>
              <a:t>Dynamic Sectional Inventory Management</a:t>
            </a:r>
          </a:p>
          <a:p>
            <a:pPr>
              <a:spcBef>
                <a:spcPts val="600"/>
              </a:spcBef>
              <a:defRPr sz="1500">
                <a:solidFill>
                  <a:srgbClr val="F8FAFC"/>
                </a:solidFill>
                <a:latin typeface="Calibri"/>
              </a:defRPr>
            </a:pPr>
            <a:r>
              <a:t>The system moves away from full-route seat locking. It breaks long journeys into intermediate segments, allowing a single physical seat to be resold across multiple sub-journeys.</a:t>
            </a:r>
          </a:p>
        </p:txBody>
      </p:sp>
      <p:sp>
        <p:nvSpPr>
          <p:cNvPr id="5" name="Rounded Rectangle 4"/>
          <p:cNvSpPr/>
          <p:nvPr/>
        </p:nvSpPr>
        <p:spPr>
          <a:xfrm>
            <a:off x="731520" y="4754880"/>
            <a:ext cx="10728655" cy="13716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800" b="1">
                <a:solidFill>
                  <a:srgbClr val="38BDF8"/>
                </a:solidFill>
                <a:latin typeface="Georgia"/>
              </a:defRPr>
            </a:pPr>
            <a:r>
              <a:rPr dirty="0"/>
              <a:t>Hybrid AI &amp; Offline Architecture</a:t>
            </a:r>
          </a:p>
          <a:p>
            <a:pPr>
              <a:spcBef>
                <a:spcPts val="600"/>
              </a:spcBef>
              <a:defRPr sz="1500">
                <a:solidFill>
                  <a:srgbClr val="F8FAFC"/>
                </a:solidFill>
                <a:latin typeface="Calibri"/>
              </a:defRPr>
            </a:pPr>
            <a:r>
              <a:rPr dirty="0"/>
              <a:t>Combines machine learning for demand prediction (</a:t>
            </a:r>
            <a:r>
              <a:rPr dirty="0" err="1"/>
              <a:t>XGBoost</a:t>
            </a:r>
            <a:r>
              <a:rPr dirty="0"/>
              <a:t>) and passenger clustering (K-Means) with a local LLM (</a:t>
            </a:r>
            <a:r>
              <a:rPr lang="en-US" dirty="0"/>
              <a:t>Qwen 2.5</a:t>
            </a:r>
            <a:r>
              <a:rPr dirty="0"/>
              <a:t> via </a:t>
            </a:r>
            <a:r>
              <a:rPr dirty="0" err="1"/>
              <a:t>Ollama</a:t>
            </a:r>
            <a:r>
              <a:rPr dirty="0"/>
              <a:t>) that runs 100% offline with zero cloud API costs.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38BDF8"/>
                </a:solidFill>
                <a:latin typeface="Calibri"/>
              </a:defRPr>
            </a:pPr>
            <a:r>
              <a:t>SERENDIB GO</a:t>
            </a:r>
          </a:p>
          <a:p>
            <a:pPr>
              <a:spcBef>
                <a:spcPts val="400"/>
              </a:spcBef>
              <a:defRPr sz="2600" b="1">
                <a:solidFill>
                  <a:srgbClr val="F8FAFC"/>
                </a:solidFill>
                <a:latin typeface="Georgia"/>
              </a:defRPr>
            </a:pPr>
            <a:r>
              <a:t>Problem Statement</a:t>
            </a:r>
          </a:p>
        </p:txBody>
      </p:sp>
      <p:sp>
        <p:nvSpPr>
          <p:cNvPr id="3" name="Rounded Rectangle 2"/>
          <p:cNvSpPr/>
          <p:nvPr/>
        </p:nvSpPr>
        <p:spPr>
          <a:xfrm>
            <a:off x="731520" y="1645920"/>
            <a:ext cx="10728655" cy="13716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800" b="1">
                <a:solidFill>
                  <a:srgbClr val="FBBF24"/>
                </a:solidFill>
                <a:latin typeface="Georgia"/>
              </a:defRPr>
            </a:pPr>
            <a:r>
              <a:rPr dirty="0"/>
              <a:t>• Rigid Full-Route Locking &amp; Ghost Seats</a:t>
            </a:r>
          </a:p>
          <a:p>
            <a:pPr>
              <a:spcBef>
                <a:spcPts val="600"/>
              </a:spcBef>
              <a:defRPr sz="1500">
                <a:solidFill>
                  <a:srgbClr val="F8FAFC"/>
                </a:solidFill>
                <a:latin typeface="Calibri"/>
              </a:defRPr>
            </a:pPr>
            <a:r>
              <a:rPr dirty="0"/>
              <a:t>When a passenger books a partial journey (e.g., Colombo to </a:t>
            </a:r>
            <a:r>
              <a:rPr dirty="0" err="1"/>
              <a:t>Chilaw</a:t>
            </a:r>
            <a:r>
              <a:rPr dirty="0"/>
              <a:t> on an Anuradhapura bus), traditional systems lock the seat for the whole route. Once vacated at </a:t>
            </a:r>
            <a:r>
              <a:rPr dirty="0" err="1"/>
              <a:t>Chilaw</a:t>
            </a:r>
            <a:r>
              <a:rPr dirty="0"/>
              <a:t>, the seat stays empty, creating 'ghost seats' and turning away intermediate passengers.</a:t>
            </a:r>
          </a:p>
        </p:txBody>
      </p:sp>
      <p:sp>
        <p:nvSpPr>
          <p:cNvPr id="4" name="Rounded Rectangle 3"/>
          <p:cNvSpPr/>
          <p:nvPr/>
        </p:nvSpPr>
        <p:spPr>
          <a:xfrm>
            <a:off x="731520" y="3200400"/>
            <a:ext cx="10728655" cy="13716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800" b="1">
                <a:solidFill>
                  <a:srgbClr val="FBBF24"/>
                </a:solidFill>
                <a:latin typeface="Georgia"/>
              </a:defRPr>
            </a:pPr>
            <a:r>
              <a:t>• Strict Government Fixed-Fare Regulations</a:t>
            </a:r>
          </a:p>
          <a:p>
            <a:pPr>
              <a:spcBef>
                <a:spcPts val="600"/>
              </a:spcBef>
              <a:defRPr sz="1500">
                <a:solidFill>
                  <a:srgbClr val="F8FAFC"/>
                </a:solidFill>
                <a:latin typeface="Calibri"/>
              </a:defRPr>
            </a:pPr>
            <a:r>
              <a:t>Airlines maximize revenue by changing ticket prices. However, Sri Lankan buses operate under National Transport Commission (NTC) fixed fare schedules. System optimization must maximize seat occupancy without altering official ticket prices.</a:t>
            </a:r>
          </a:p>
        </p:txBody>
      </p:sp>
      <p:sp>
        <p:nvSpPr>
          <p:cNvPr id="5" name="Rounded Rectangle 4"/>
          <p:cNvSpPr/>
          <p:nvPr/>
        </p:nvSpPr>
        <p:spPr>
          <a:xfrm>
            <a:off x="731520" y="4754880"/>
            <a:ext cx="10728655" cy="13716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800" b="1">
                <a:solidFill>
                  <a:srgbClr val="FBBF24"/>
                </a:solidFill>
                <a:latin typeface="Georgia"/>
              </a:defRPr>
            </a:pPr>
            <a:r>
              <a:t>• Cloud API Costs &amp; Privacy in Transit Corridors</a:t>
            </a:r>
          </a:p>
          <a:p>
            <a:pPr>
              <a:spcBef>
                <a:spcPts val="600"/>
              </a:spcBef>
              <a:defRPr sz="1500">
                <a:solidFill>
                  <a:srgbClr val="F8FAFC"/>
                </a:solidFill>
                <a:latin typeface="Calibri"/>
              </a:defRPr>
            </a:pPr>
            <a:r>
              <a:t>Cloud-based AI models require constant internet and expensive per-request API fees. Inter-provincial buses travel through low-signal areas, making offline local inference (Ollama) essential for privacy, reliability, and zero cloud costs.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38BDF8"/>
                </a:solidFill>
                <a:latin typeface="Calibri"/>
              </a:defRPr>
            </a:pPr>
            <a:r>
              <a:t>SERENDIB GO</a:t>
            </a:r>
          </a:p>
          <a:p>
            <a:pPr>
              <a:spcBef>
                <a:spcPts val="400"/>
              </a:spcBef>
              <a:defRPr sz="2600" b="1">
                <a:solidFill>
                  <a:srgbClr val="F8FAFC"/>
                </a:solidFill>
                <a:latin typeface="Georgia"/>
              </a:defRPr>
            </a:pPr>
            <a:r>
              <a:t>Technologies</a:t>
            </a:r>
          </a:p>
        </p:txBody>
      </p:sp>
      <p:sp>
        <p:nvSpPr>
          <p:cNvPr id="3" name="Rounded Rectangle 2"/>
          <p:cNvSpPr/>
          <p:nvPr/>
        </p:nvSpPr>
        <p:spPr>
          <a:xfrm>
            <a:off x="731520" y="1645920"/>
            <a:ext cx="10728655" cy="8229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wrap="square" lIns="274320" tIns="109728" rtlCol="0" anchor="ctr"/>
          <a:lstStyle/>
          <a:p>
            <a:pPr algn="ctr"/>
            <a:r>
              <a:rPr sz="1400" b="1">
                <a:solidFill>
                  <a:srgbClr val="94A3B8"/>
                </a:solidFill>
                <a:latin typeface="Calibri"/>
              </a:rPr>
              <a:t>Frontend Interface: </a:t>
            </a:r>
            <a:r>
              <a:rPr sz="1600" b="1">
                <a:solidFill>
                  <a:srgbClr val="38BDF8"/>
                </a:solidFill>
                <a:latin typeface="Georgia"/>
              </a:rPr>
              <a:t>Next.js 16 + React 19
</a:t>
            </a:r>
            <a:r>
              <a:rPr sz="1300">
                <a:solidFill>
                  <a:srgbClr val="F8FAFC"/>
                </a:solidFill>
                <a:latin typeface="Calibri"/>
              </a:rPr>
              <a:t>Interactive 40-seat visual map, segment selector, and responsive passenger web dashboard.</a:t>
            </a:r>
          </a:p>
        </p:txBody>
      </p:sp>
      <p:sp>
        <p:nvSpPr>
          <p:cNvPr id="4" name="Rounded Rectangle 3"/>
          <p:cNvSpPr/>
          <p:nvPr/>
        </p:nvSpPr>
        <p:spPr>
          <a:xfrm>
            <a:off x="731520" y="2606040"/>
            <a:ext cx="10728655" cy="8229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wrap="square" lIns="274320" tIns="109728" rtlCol="0" anchor="ctr"/>
          <a:lstStyle/>
          <a:p>
            <a:pPr algn="ctr"/>
            <a:r>
              <a:rPr sz="1400" b="1">
                <a:solidFill>
                  <a:srgbClr val="94A3B8"/>
                </a:solidFill>
                <a:latin typeface="Calibri"/>
              </a:rPr>
              <a:t>API &amp; Gateway: </a:t>
            </a:r>
            <a:r>
              <a:rPr sz="1600" b="1">
                <a:solidFill>
                  <a:srgbClr val="38BDF8"/>
                </a:solidFill>
                <a:latin typeface="Georgia"/>
              </a:rPr>
              <a:t>Laravel 12 REST API
</a:t>
            </a:r>
            <a:r>
              <a:rPr sz="1300">
                <a:solidFill>
                  <a:srgbClr val="F8FAFC"/>
                </a:solidFill>
                <a:latin typeface="Calibri"/>
              </a:rPr>
              <a:t>Business logic, NTC fixed-fare calculation, and SQL Interval Tree overlap query engine.</a:t>
            </a:r>
          </a:p>
        </p:txBody>
      </p:sp>
      <p:sp>
        <p:nvSpPr>
          <p:cNvPr id="5" name="Rounded Rectangle 4"/>
          <p:cNvSpPr/>
          <p:nvPr/>
        </p:nvSpPr>
        <p:spPr>
          <a:xfrm>
            <a:off x="731520" y="3566160"/>
            <a:ext cx="10728655" cy="8229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wrap="square" lIns="274320" tIns="109728" rtlCol="0" anchor="ctr"/>
          <a:lstStyle/>
          <a:p>
            <a:pPr algn="ctr"/>
            <a:r>
              <a:rPr sz="1400" b="1">
                <a:solidFill>
                  <a:srgbClr val="94A3B8"/>
                </a:solidFill>
                <a:latin typeface="Calibri"/>
              </a:rPr>
              <a:t>Database Engine: </a:t>
            </a:r>
            <a:r>
              <a:rPr sz="1600" b="1">
                <a:solidFill>
                  <a:srgbClr val="38BDF8"/>
                </a:solidFill>
                <a:latin typeface="Georgia"/>
              </a:rPr>
              <a:t>MySQL 8.0 Relational DB
</a:t>
            </a:r>
            <a:r>
              <a:rPr sz="1300">
                <a:solidFill>
                  <a:srgbClr val="F8FAFC"/>
                </a:solidFill>
                <a:latin typeface="Calibri"/>
              </a:rPr>
              <a:t>Stores bookings, segment allocations, and digitized July 2026 NTC luxury fare schedules.</a:t>
            </a:r>
          </a:p>
        </p:txBody>
      </p:sp>
      <p:sp>
        <p:nvSpPr>
          <p:cNvPr id="6" name="Rounded Rectangle 5"/>
          <p:cNvSpPr/>
          <p:nvPr/>
        </p:nvSpPr>
        <p:spPr>
          <a:xfrm>
            <a:off x="731520" y="4526280"/>
            <a:ext cx="10728655" cy="8229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wrap="square" lIns="274320" tIns="109728" rtlCol="0" anchor="ctr"/>
          <a:lstStyle/>
          <a:p>
            <a:pPr algn="ctr"/>
            <a:r>
              <a:rPr sz="1400" b="1">
                <a:solidFill>
                  <a:srgbClr val="94A3B8"/>
                </a:solidFill>
                <a:latin typeface="Calibri"/>
              </a:rPr>
              <a:t>AI / ML Layer: </a:t>
            </a:r>
            <a:r>
              <a:rPr sz="1600" b="1">
                <a:solidFill>
                  <a:srgbClr val="38BDF8"/>
                </a:solidFill>
                <a:latin typeface="Georgia"/>
              </a:rPr>
              <a:t>Python 3.10+ &amp; FastAPI
</a:t>
            </a:r>
            <a:r>
              <a:rPr sz="1300">
                <a:solidFill>
                  <a:srgbClr val="F8FAFC"/>
                </a:solidFill>
                <a:latin typeface="Calibri"/>
              </a:rPr>
              <a:t>XGBoost demand prediction script and K-Means passenger behavioral profiling.</a:t>
            </a:r>
          </a:p>
        </p:txBody>
      </p:sp>
      <p:sp>
        <p:nvSpPr>
          <p:cNvPr id="7" name="Rounded Rectangle 6"/>
          <p:cNvSpPr/>
          <p:nvPr/>
        </p:nvSpPr>
        <p:spPr>
          <a:xfrm>
            <a:off x="731520" y="5486400"/>
            <a:ext cx="10728655" cy="8229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wrap="square" lIns="274320" tIns="109728" rtlCol="0" anchor="ctr"/>
          <a:lstStyle/>
          <a:p>
            <a:pPr algn="ctr"/>
            <a:r>
              <a:rPr sz="1400" b="1" dirty="0">
                <a:solidFill>
                  <a:srgbClr val="94A3B8"/>
                </a:solidFill>
                <a:latin typeface="Calibri"/>
              </a:rPr>
              <a:t>Local AI Runtime: </a:t>
            </a:r>
            <a:r>
              <a:rPr sz="1600" b="1" dirty="0" err="1">
                <a:solidFill>
                  <a:srgbClr val="38BDF8"/>
                </a:solidFill>
                <a:latin typeface="Georgia"/>
              </a:rPr>
              <a:t>Ollama</a:t>
            </a:r>
            <a:r>
              <a:rPr sz="1600" b="1" dirty="0">
                <a:solidFill>
                  <a:srgbClr val="38BDF8"/>
                </a:solidFill>
                <a:latin typeface="Georgia"/>
              </a:rPr>
              <a:t> (Port 11434)
</a:t>
            </a:r>
            <a:r>
              <a:rPr sz="1300" dirty="0">
                <a:solidFill>
                  <a:srgbClr val="F8FAFC"/>
                </a:solidFill>
                <a:latin typeface="Calibri"/>
              </a:rPr>
              <a:t>Runs Meta's </a:t>
            </a:r>
            <a:r>
              <a:rPr lang="en-US" sz="1300" dirty="0">
                <a:solidFill>
                  <a:srgbClr val="F8FAFC"/>
                </a:solidFill>
                <a:latin typeface="Calibri"/>
              </a:rPr>
              <a:t>Qwen 2.5</a:t>
            </a:r>
            <a:r>
              <a:rPr sz="1300" dirty="0">
                <a:solidFill>
                  <a:srgbClr val="F8FAFC"/>
                </a:solidFill>
                <a:latin typeface="Calibri"/>
              </a:rPr>
              <a:t> model 100% locally on-device with RAG context injection for zero cloud cost.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38BDF8"/>
                </a:solidFill>
                <a:latin typeface="Calibri"/>
              </a:defRPr>
            </a:pPr>
            <a:r>
              <a:t>SERENDIB GO</a:t>
            </a:r>
          </a:p>
          <a:p>
            <a:pPr>
              <a:spcBef>
                <a:spcPts val="400"/>
              </a:spcBef>
              <a:defRPr sz="2600" b="1">
                <a:solidFill>
                  <a:srgbClr val="F8FAFC"/>
                </a:solidFill>
                <a:latin typeface="Georgia"/>
              </a:defRPr>
            </a:pPr>
            <a:r>
              <a:t>AI Techniques</a:t>
            </a:r>
          </a:p>
        </p:txBody>
      </p:sp>
      <p:sp>
        <p:nvSpPr>
          <p:cNvPr id="3" name="Rounded Rectangle 2"/>
          <p:cNvSpPr/>
          <p:nvPr/>
        </p:nvSpPr>
        <p:spPr>
          <a:xfrm>
            <a:off x="731520" y="1645920"/>
            <a:ext cx="10728655" cy="13716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800" b="1">
                <a:solidFill>
                  <a:srgbClr val="34D399"/>
                </a:solidFill>
                <a:latin typeface="Georgia"/>
              </a:defRPr>
            </a:pPr>
            <a:r>
              <a:t>• XGBoost Regression (Demand Prediction)</a:t>
            </a:r>
          </a:p>
          <a:p>
            <a:pPr>
              <a:spcBef>
                <a:spcPts val="600"/>
              </a:spcBef>
              <a:defRPr sz="1500">
                <a:solidFill>
                  <a:srgbClr val="F8FAFC"/>
                </a:solidFill>
                <a:latin typeface="Calibri"/>
              </a:defRPr>
            </a:pPr>
            <a:r>
              <a:t>Predicts passenger demand per route segment using features like time of day, day of week, and holiday flags. Displays live 'Moderate/High Demand' badges on the UI to guide booking decisions.</a:t>
            </a:r>
          </a:p>
        </p:txBody>
      </p:sp>
      <p:sp>
        <p:nvSpPr>
          <p:cNvPr id="4" name="Rounded Rectangle 3"/>
          <p:cNvSpPr/>
          <p:nvPr/>
        </p:nvSpPr>
        <p:spPr>
          <a:xfrm>
            <a:off x="731520" y="3200400"/>
            <a:ext cx="10728655" cy="13716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800" b="1">
                <a:solidFill>
                  <a:srgbClr val="34D399"/>
                </a:solidFill>
                <a:latin typeface="Georgia"/>
              </a:defRPr>
            </a:pPr>
            <a:r>
              <a:t>• K-Means Unsupervised Clustering (k=4)</a:t>
            </a:r>
          </a:p>
          <a:p>
            <a:pPr>
              <a:spcBef>
                <a:spcPts val="600"/>
              </a:spcBef>
              <a:defRPr sz="1500">
                <a:solidFill>
                  <a:srgbClr val="F8FAFC"/>
                </a:solidFill>
                <a:latin typeface="Calibri"/>
              </a:defRPr>
            </a:pPr>
            <a:r>
              <a:t>Classifies passenger travel habits into 4 clusters: Daily Commuters, Weekend Travelers, Holiday Surge, and Last-Minute Bookers. Helps operators set smart seat protection buffers for high-traffic legs.</a:t>
            </a:r>
          </a:p>
        </p:txBody>
      </p:sp>
      <p:sp>
        <p:nvSpPr>
          <p:cNvPr id="5" name="Rounded Rectangle 4"/>
          <p:cNvSpPr/>
          <p:nvPr/>
        </p:nvSpPr>
        <p:spPr>
          <a:xfrm>
            <a:off x="731520" y="4754880"/>
            <a:ext cx="10728655" cy="13716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800" b="1">
                <a:solidFill>
                  <a:srgbClr val="34D399"/>
                </a:solidFill>
                <a:latin typeface="Georgia"/>
              </a:defRPr>
            </a:pPr>
            <a:r>
              <a:rPr dirty="0"/>
              <a:t>• Local Generative AI &amp; RAG (</a:t>
            </a:r>
            <a:r>
              <a:rPr lang="en-US" dirty="0"/>
              <a:t>Qwen 2.5</a:t>
            </a:r>
            <a:r>
              <a:rPr dirty="0"/>
              <a:t> via </a:t>
            </a:r>
            <a:r>
              <a:rPr dirty="0" err="1"/>
              <a:t>Ollama</a:t>
            </a:r>
            <a:r>
              <a:rPr dirty="0"/>
              <a:t>)</a:t>
            </a:r>
          </a:p>
          <a:p>
            <a:pPr>
              <a:spcBef>
                <a:spcPts val="600"/>
              </a:spcBef>
              <a:defRPr sz="1500">
                <a:solidFill>
                  <a:srgbClr val="F8FAFC"/>
                </a:solidFill>
                <a:latin typeface="Calibri"/>
              </a:defRPr>
            </a:pPr>
            <a:r>
              <a:rPr dirty="0"/>
              <a:t>Hosts </a:t>
            </a:r>
            <a:r>
              <a:rPr lang="en-US" dirty="0"/>
              <a:t>Qwen 2.5</a:t>
            </a:r>
            <a:r>
              <a:rPr dirty="0"/>
              <a:t> locally on Port 11434. Uses Retrieval-Augmented Generation (RAG) to inject real-time NTC fare tables and schedules, answering passenger queries instantly with 100% data privacy.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38BDF8"/>
                </a:solidFill>
                <a:latin typeface="Calibri"/>
              </a:defRPr>
            </a:pPr>
            <a:r>
              <a:t>SERENDIB GO</a:t>
            </a:r>
          </a:p>
          <a:p>
            <a:pPr>
              <a:spcBef>
                <a:spcPts val="400"/>
              </a:spcBef>
              <a:defRPr sz="2600" b="1">
                <a:solidFill>
                  <a:srgbClr val="F8FAFC"/>
                </a:solidFill>
                <a:latin typeface="Georgia"/>
              </a:defRPr>
            </a:pPr>
            <a:r>
              <a:t>Core Tasks Completed</a:t>
            </a:r>
          </a:p>
        </p:txBody>
      </p:sp>
      <p:sp>
        <p:nvSpPr>
          <p:cNvPr id="3" name="Rounded Rectangle 2"/>
          <p:cNvSpPr/>
          <p:nvPr/>
        </p:nvSpPr>
        <p:spPr>
          <a:xfrm>
            <a:off x="731520" y="1645920"/>
            <a:ext cx="10728655" cy="8229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wrap="square" lIns="274320" tIns="109728" rtlCol="0" anchor="ctr"/>
          <a:lstStyle/>
          <a:p>
            <a:pPr algn="ctr"/>
            <a:r>
              <a:rPr sz="1600" b="1">
                <a:solidFill>
                  <a:srgbClr val="38BDF8"/>
                </a:solidFill>
                <a:latin typeface="Georgia"/>
              </a:rPr>
              <a:t>✔  NTC Fare Schedule Digitization
</a:t>
            </a:r>
            <a:r>
              <a:rPr sz="1300">
                <a:solidFill>
                  <a:srgbClr val="F8FAFC"/>
                </a:solidFill>
                <a:latin typeface="Calibri"/>
              </a:rPr>
              <a:t>Digitized official July 2026 NTC luxury fare tables into MySQL, creating exact sub-journey pricing for Route 004 (Colombo–Anuradhapura/Mannar) and Route 001 (Kandy).</a:t>
            </a:r>
          </a:p>
        </p:txBody>
      </p:sp>
      <p:sp>
        <p:nvSpPr>
          <p:cNvPr id="4" name="Rounded Rectangle 3"/>
          <p:cNvSpPr/>
          <p:nvPr/>
        </p:nvSpPr>
        <p:spPr>
          <a:xfrm>
            <a:off x="731520" y="2606040"/>
            <a:ext cx="10728655" cy="8229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wrap="square" lIns="274320" tIns="109728" rtlCol="0" anchor="ctr"/>
          <a:lstStyle/>
          <a:p>
            <a:pPr algn="ctr"/>
            <a:r>
              <a:rPr sz="1600" b="1">
                <a:solidFill>
                  <a:srgbClr val="38BDF8"/>
                </a:solidFill>
                <a:latin typeface="Georgia"/>
              </a:rPr>
              <a:t>✔  SQL Interval Tree Overlap Query Engine
</a:t>
            </a:r>
            <a:r>
              <a:rPr sz="1300">
                <a:solidFill>
                  <a:srgbClr val="F8FAFC"/>
                </a:solidFill>
                <a:latin typeface="Calibri"/>
              </a:rPr>
              <a:t>Built a custom SQL interval query system that verifies seat availability across partial segments, enabling instant seat release and preventing double-bookings.</a:t>
            </a:r>
          </a:p>
        </p:txBody>
      </p:sp>
      <p:sp>
        <p:nvSpPr>
          <p:cNvPr id="5" name="Rounded Rectangle 4"/>
          <p:cNvSpPr/>
          <p:nvPr/>
        </p:nvSpPr>
        <p:spPr>
          <a:xfrm>
            <a:off x="731520" y="3566160"/>
            <a:ext cx="10728655" cy="8229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wrap="square" lIns="274320" tIns="109728" rtlCol="0" anchor="ctr"/>
          <a:lstStyle/>
          <a:p>
            <a:pPr algn="ctr"/>
            <a:r>
              <a:rPr sz="1600" b="1">
                <a:solidFill>
                  <a:srgbClr val="38BDF8"/>
                </a:solidFill>
                <a:latin typeface="Georgia"/>
              </a:rPr>
              <a:t>✔  XGBoost &amp; FastAPI Microservice Integration
</a:t>
            </a:r>
            <a:r>
              <a:rPr sz="1300">
                <a:solidFill>
                  <a:srgbClr val="F8FAFC"/>
                </a:solidFill>
                <a:latin typeface="Calibri"/>
              </a:rPr>
              <a:t>Trained XGBoost on 10,000 synthetic booking records and connected it via FastAPI, returning real-time JSON demand scores (`predicted_demand: 1.4`) to Laravel.</a:t>
            </a:r>
          </a:p>
        </p:txBody>
      </p:sp>
      <p:sp>
        <p:nvSpPr>
          <p:cNvPr id="6" name="Rounded Rectangle 5"/>
          <p:cNvSpPr/>
          <p:nvPr/>
        </p:nvSpPr>
        <p:spPr>
          <a:xfrm>
            <a:off x="731520" y="4526280"/>
            <a:ext cx="10728655" cy="8229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wrap="square" lIns="274320" tIns="109728" rtlCol="0" anchor="ctr"/>
          <a:lstStyle/>
          <a:p>
            <a:pPr algn="ctr"/>
            <a:r>
              <a:rPr sz="1600" b="1">
                <a:solidFill>
                  <a:srgbClr val="38BDF8"/>
                </a:solidFill>
                <a:latin typeface="Georgia"/>
              </a:rPr>
              <a:t>✔  Interactive Frontend &amp; Local Assistant UI
</a:t>
            </a:r>
            <a:r>
              <a:rPr sz="1300">
                <a:solidFill>
                  <a:srgbClr val="F8FAFC"/>
                </a:solidFill>
                <a:latin typeface="Calibri"/>
              </a:rPr>
              <a:t>Developed the Next.js 16 SmartSeatMap visual layout (`A1-J4`) and connected the ChatWidget modal directly to local Ollama on Port 11434.</a:t>
            </a:r>
          </a:p>
        </p:txBody>
      </p:sp>
      <p:sp>
        <p:nvSpPr>
          <p:cNvPr id="7" name="Rounded Rectangle 6"/>
          <p:cNvSpPr/>
          <p:nvPr/>
        </p:nvSpPr>
        <p:spPr>
          <a:xfrm>
            <a:off x="731520" y="5486400"/>
            <a:ext cx="10728655" cy="8229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wrap="square" lIns="274320" tIns="109728" rtlCol="0" anchor="ctr"/>
          <a:lstStyle/>
          <a:p>
            <a:pPr algn="ctr"/>
            <a:r>
              <a:rPr sz="1600" b="1">
                <a:solidFill>
                  <a:srgbClr val="38BDF8"/>
                </a:solidFill>
                <a:latin typeface="Georgia"/>
              </a:rPr>
              <a:t>✔  Simulation Benchmarking &amp; Evaluation
</a:t>
            </a:r>
            <a:r>
              <a:rPr sz="1300">
                <a:solidFill>
                  <a:srgbClr val="F8FAFC"/>
                </a:solidFill>
                <a:latin typeface="Calibri"/>
              </a:rPr>
              <a:t>Simulated 10,000 passenger requests over 90 days, proving seat occupancy increases from 55% to 82%+ and passengers served increases by +45%.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362895" cy="2286000"/>
          </a:xfrm>
          <a:prstGeom prst="rect">
            <a:avLst/>
          </a:prstGeom>
          <a:noFill/>
        </p:spPr>
        <p:txBody>
          <a:bodyPr wrap="square">
            <a:spAutoFit/>
          </a:bodyPr>
          <a:lstStyle/>
          <a:p>
            <a:pPr algn="ctr">
              <a:defRPr sz="4400" b="1">
                <a:solidFill>
                  <a:srgbClr val="38BDF8"/>
                </a:solidFill>
                <a:latin typeface="Georgia"/>
              </a:defRPr>
            </a:pPr>
            <a:r>
              <a:t>Thank You</a:t>
            </a:r>
          </a:p>
          <a:p>
            <a:pPr algn="ctr">
              <a:spcBef>
                <a:spcPts val="1600"/>
              </a:spcBef>
              <a:defRPr sz="2000">
                <a:solidFill>
                  <a:srgbClr val="F8FAFC"/>
                </a:solidFill>
                <a:latin typeface="Calibri"/>
              </a:defRPr>
            </a:pPr>
            <a:r>
              <a:t>Serendib Go: AI-Powered Smart Bus Seat Optimizer</a:t>
            </a:r>
            <a:br/>
            <a:r>
              <a:t>Questions &amp; Answers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314</TotalTime>
  <Words>751</Words>
  <Application>Microsoft Office PowerPoint</Application>
  <PresentationFormat>Widescreen</PresentationFormat>
  <Paragraphs>50</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KAUC Prabhashwara</cp:lastModifiedBy>
  <cp:revision>4</cp:revision>
  <dcterms:created xsi:type="dcterms:W3CDTF">2013-01-27T09:14:16Z</dcterms:created>
  <dcterms:modified xsi:type="dcterms:W3CDTF">2026-10-17T17:08:17Z</dcterms:modified>
  <cp:category/>
</cp:coreProperties>
</file>